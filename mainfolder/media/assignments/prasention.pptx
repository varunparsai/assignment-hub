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ileron" charset="1" panose="00000500000000000000"/>
      <p:regular r:id="rId13"/>
    </p:embeddedFont>
    <p:embeddedFont>
      <p:font typeface="Aileron Bold" charset="1" panose="00000800000000000000"/>
      <p:regular r:id="rId14"/>
    </p:embeddedFont>
    <p:embeddedFont>
      <p:font typeface="Anton"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54" t="-11239" r="-1654" b="-11201"/>
            </a:stretch>
          </a:blipFill>
        </p:spPr>
      </p:sp>
      <p:sp>
        <p:nvSpPr>
          <p:cNvPr name="TextBox 3" id="3"/>
          <p:cNvSpPr txBox="true"/>
          <p:nvPr/>
        </p:nvSpPr>
        <p:spPr>
          <a:xfrm rot="0">
            <a:off x="1527488" y="7564363"/>
            <a:ext cx="15233024" cy="448310"/>
          </a:xfrm>
          <a:prstGeom prst="rect">
            <a:avLst/>
          </a:prstGeom>
        </p:spPr>
        <p:txBody>
          <a:bodyPr anchor="t" rtlCol="false" tIns="0" lIns="0" bIns="0" rIns="0">
            <a:spAutoFit/>
          </a:bodyPr>
          <a:lstStyle/>
          <a:p>
            <a:pPr algn="l">
              <a:lnSpc>
                <a:spcPts val="3640"/>
              </a:lnSpc>
            </a:pPr>
            <a:r>
              <a:rPr lang="en-US" sz="2600">
                <a:solidFill>
                  <a:srgbClr val="FFFFFF"/>
                </a:solidFill>
                <a:latin typeface="Aileron"/>
                <a:ea typeface="Aileron"/>
                <a:cs typeface="Aileron"/>
                <a:sym typeface="Aileron"/>
              </a:rPr>
              <a:t>We always talk about physical health, but what about the health of the mind that controls everything?</a:t>
            </a:r>
          </a:p>
        </p:txBody>
      </p:sp>
      <p:sp>
        <p:nvSpPr>
          <p:cNvPr name="AutoShape 4" id="4"/>
          <p:cNvSpPr/>
          <p:nvPr/>
        </p:nvSpPr>
        <p:spPr>
          <a:xfrm>
            <a:off x="-538219" y="8012673"/>
            <a:ext cx="18826219" cy="0"/>
          </a:xfrm>
          <a:prstGeom prst="line">
            <a:avLst/>
          </a:prstGeom>
          <a:ln cap="rnd" w="104775">
            <a:solidFill>
              <a:srgbClr val="969999"/>
            </a:solidFill>
            <a:prstDash val="solid"/>
            <a:headEnd type="none" len="sm" w="sm"/>
            <a:tailEnd type="none" len="sm" w="sm"/>
          </a:ln>
        </p:spPr>
      </p:sp>
      <p:sp>
        <p:nvSpPr>
          <p:cNvPr name="TextBox 5" id="5"/>
          <p:cNvSpPr txBox="true"/>
          <p:nvPr/>
        </p:nvSpPr>
        <p:spPr>
          <a:xfrm rot="0">
            <a:off x="678695" y="3051178"/>
            <a:ext cx="16930610" cy="4175118"/>
          </a:xfrm>
          <a:prstGeom prst="rect">
            <a:avLst/>
          </a:prstGeom>
        </p:spPr>
        <p:txBody>
          <a:bodyPr anchor="t" rtlCol="false" tIns="0" lIns="0" bIns="0" rIns="0">
            <a:spAutoFit/>
          </a:bodyPr>
          <a:lstStyle/>
          <a:p>
            <a:pPr algn="ctr">
              <a:lnSpc>
                <a:spcPts val="16428"/>
              </a:lnSpc>
            </a:pPr>
            <a:r>
              <a:rPr lang="en-US" b="true" sz="13690">
                <a:solidFill>
                  <a:srgbClr val="FFFFFF"/>
                </a:solidFill>
                <a:latin typeface="Aileron Bold"/>
                <a:ea typeface="Aileron Bold"/>
                <a:cs typeface="Aileron Bold"/>
                <a:sym typeface="Aileron Bold"/>
              </a:rPr>
              <a:t>Mental Health Awareness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B6897C"/>
        </a:solidFill>
      </p:bgPr>
    </p:bg>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flipV="true">
            <a:off x="1843130" y="4492651"/>
            <a:ext cx="13509244" cy="0"/>
          </a:xfrm>
          <a:prstGeom prst="line">
            <a:avLst/>
          </a:prstGeom>
          <a:ln cap="rnd" w="9525">
            <a:solidFill>
              <a:srgbClr val="EBB8A9"/>
            </a:solidFill>
            <a:prstDash val="solid"/>
            <a:headEnd type="none" len="sm" w="sm"/>
            <a:tailEnd type="none" len="sm" w="sm"/>
          </a:ln>
        </p:spPr>
      </p:sp>
      <p:sp>
        <p:nvSpPr>
          <p:cNvPr name="TextBox 3" id="3"/>
          <p:cNvSpPr txBox="true"/>
          <p:nvPr/>
        </p:nvSpPr>
        <p:spPr>
          <a:xfrm rot="0">
            <a:off x="3708064" y="4695403"/>
            <a:ext cx="11644310" cy="2103182"/>
          </a:xfrm>
          <a:prstGeom prst="rect">
            <a:avLst/>
          </a:prstGeom>
        </p:spPr>
        <p:txBody>
          <a:bodyPr anchor="t" rtlCol="false" tIns="0" lIns="0" bIns="0" rIns="0">
            <a:spAutoFit/>
          </a:bodyPr>
          <a:lstStyle/>
          <a:p>
            <a:pPr algn="just">
              <a:lnSpc>
                <a:spcPts val="2774"/>
              </a:lnSpc>
              <a:spcBef>
                <a:spcPct val="0"/>
              </a:spcBef>
            </a:pPr>
            <a:r>
              <a:rPr lang="en-US" b="true" sz="2311">
                <a:solidFill>
                  <a:srgbClr val="FFFFFF"/>
                </a:solidFill>
                <a:latin typeface="Aileron Bold"/>
                <a:ea typeface="Aileron Bold"/>
                <a:cs typeface="Aileron Bold"/>
                <a:sym typeface="Aileron Bold"/>
              </a:rPr>
              <a:t>• Mental health is the state of </a:t>
            </a:r>
            <a:r>
              <a:rPr lang="en-US" b="true" sz="2311">
                <a:solidFill>
                  <a:srgbClr val="FFFFFF"/>
                </a:solidFill>
                <a:latin typeface="Aileron Bold"/>
                <a:ea typeface="Aileron Bold"/>
                <a:cs typeface="Aileron Bold"/>
                <a:sym typeface="Aileron Bold"/>
              </a:rPr>
              <a:t>our emotional, psychological, and social well-being.</a:t>
            </a:r>
          </a:p>
          <a:p>
            <a:pPr algn="just">
              <a:lnSpc>
                <a:spcPts val="2774"/>
              </a:lnSpc>
              <a:spcBef>
                <a:spcPct val="0"/>
              </a:spcBef>
            </a:pPr>
            <a:r>
              <a:rPr lang="en-US" b="true" sz="2311">
                <a:solidFill>
                  <a:srgbClr val="FFFFFF"/>
                </a:solidFill>
                <a:latin typeface="Aileron Bold"/>
                <a:ea typeface="Aileron Bold"/>
                <a:cs typeface="Aileron Bold"/>
                <a:sym typeface="Aileron Bold"/>
              </a:rPr>
              <a:t> It affects how we think, feel, and act in everyday life.</a:t>
            </a:r>
          </a:p>
          <a:p>
            <a:pPr algn="just">
              <a:lnSpc>
                <a:spcPts val="2774"/>
              </a:lnSpc>
              <a:spcBef>
                <a:spcPct val="0"/>
              </a:spcBef>
            </a:pPr>
          </a:p>
          <a:p>
            <a:pPr algn="just">
              <a:lnSpc>
                <a:spcPts val="2774"/>
              </a:lnSpc>
              <a:spcBef>
                <a:spcPct val="0"/>
              </a:spcBef>
            </a:pPr>
            <a:r>
              <a:rPr lang="en-US" b="true" sz="2311">
                <a:solidFill>
                  <a:srgbClr val="FFFFFF"/>
                </a:solidFill>
                <a:latin typeface="Aileron Bold"/>
                <a:ea typeface="Aileron Bold"/>
                <a:cs typeface="Aileron Bold"/>
                <a:sym typeface="Aileron Bold"/>
              </a:rPr>
              <a:t>• It shapes how we handle stress, make decisions, and build relationships.</a:t>
            </a:r>
          </a:p>
          <a:p>
            <a:pPr algn="just">
              <a:lnSpc>
                <a:spcPts val="2774"/>
              </a:lnSpc>
              <a:spcBef>
                <a:spcPct val="0"/>
              </a:spcBef>
            </a:pPr>
            <a:r>
              <a:rPr lang="en-US" b="true" sz="2311">
                <a:solidFill>
                  <a:srgbClr val="FFFFFF"/>
                </a:solidFill>
                <a:latin typeface="Aileron Bold"/>
                <a:ea typeface="Aileron Bold"/>
                <a:cs typeface="Aileron Bold"/>
                <a:sym typeface="Aileron Bold"/>
              </a:rPr>
              <a:t> Good mental health helps us stay balanced and productive.</a:t>
            </a:r>
          </a:p>
          <a:p>
            <a:pPr algn="just">
              <a:lnSpc>
                <a:spcPts val="2774"/>
              </a:lnSpc>
              <a:spcBef>
                <a:spcPct val="0"/>
              </a:spcBef>
            </a:pPr>
          </a:p>
        </p:txBody>
      </p:sp>
      <p:sp>
        <p:nvSpPr>
          <p:cNvPr name="TextBox 4" id="4"/>
          <p:cNvSpPr txBox="true"/>
          <p:nvPr/>
        </p:nvSpPr>
        <p:spPr>
          <a:xfrm rot="0">
            <a:off x="3708064" y="6798585"/>
            <a:ext cx="11644310" cy="2103182"/>
          </a:xfrm>
          <a:prstGeom prst="rect">
            <a:avLst/>
          </a:prstGeom>
        </p:spPr>
        <p:txBody>
          <a:bodyPr anchor="t" rtlCol="false" tIns="0" lIns="0" bIns="0" rIns="0">
            <a:spAutoFit/>
          </a:bodyPr>
          <a:lstStyle/>
          <a:p>
            <a:pPr algn="just">
              <a:lnSpc>
                <a:spcPts val="2774"/>
              </a:lnSpc>
              <a:spcBef>
                <a:spcPct val="0"/>
              </a:spcBef>
            </a:pPr>
            <a:r>
              <a:rPr lang="en-US" b="true" sz="2311">
                <a:solidFill>
                  <a:srgbClr val="FFFFFF"/>
                </a:solidFill>
                <a:latin typeface="Aileron Bold"/>
                <a:ea typeface="Aileron Bold"/>
                <a:cs typeface="Aileron Bold"/>
                <a:sym typeface="Aileron Bold"/>
              </a:rPr>
              <a:t>• It’s just as impo</a:t>
            </a:r>
            <a:r>
              <a:rPr lang="en-US" b="true" sz="2311">
                <a:solidFill>
                  <a:srgbClr val="FFFFFF"/>
                </a:solidFill>
                <a:latin typeface="Aileron Bold"/>
                <a:ea typeface="Aileron Bold"/>
                <a:cs typeface="Aileron Bold"/>
                <a:sym typeface="Aileron Bold"/>
              </a:rPr>
              <a:t>rtant as physical health.</a:t>
            </a:r>
          </a:p>
          <a:p>
            <a:pPr algn="just">
              <a:lnSpc>
                <a:spcPts val="2774"/>
              </a:lnSpc>
              <a:spcBef>
                <a:spcPct val="0"/>
              </a:spcBef>
            </a:pPr>
            <a:r>
              <a:rPr lang="en-US" b="true" sz="2311">
                <a:solidFill>
                  <a:srgbClr val="FFFFFF"/>
                </a:solidFill>
                <a:latin typeface="Aileron Bold"/>
                <a:ea typeface="Aileron Bold"/>
                <a:cs typeface="Aileron Bold"/>
                <a:sym typeface="Aileron Bold"/>
              </a:rPr>
              <a:t> Mind and body are connected  when one suffers, the other follows.</a:t>
            </a:r>
          </a:p>
          <a:p>
            <a:pPr algn="just">
              <a:lnSpc>
                <a:spcPts val="2774"/>
              </a:lnSpc>
              <a:spcBef>
                <a:spcPct val="0"/>
              </a:spcBef>
            </a:pPr>
          </a:p>
          <a:p>
            <a:pPr algn="just">
              <a:lnSpc>
                <a:spcPts val="2774"/>
              </a:lnSpc>
              <a:spcBef>
                <a:spcPct val="0"/>
              </a:spcBef>
            </a:pPr>
            <a:r>
              <a:rPr lang="en-US" b="true" sz="2311">
                <a:solidFill>
                  <a:srgbClr val="FFFFFF"/>
                </a:solidFill>
                <a:latin typeface="Aileron Bold"/>
                <a:ea typeface="Aileron Bold"/>
                <a:cs typeface="Aileron Bold"/>
                <a:sym typeface="Aileron Bold"/>
              </a:rPr>
              <a:t>• Mental health exists on a spectrum, not as “good” or “bad.”</a:t>
            </a:r>
          </a:p>
          <a:p>
            <a:pPr algn="just">
              <a:lnSpc>
                <a:spcPts val="2774"/>
              </a:lnSpc>
              <a:spcBef>
                <a:spcPct val="0"/>
              </a:spcBef>
            </a:pPr>
            <a:r>
              <a:rPr lang="en-US" b="true" sz="2311">
                <a:solidFill>
                  <a:srgbClr val="FFFFFF"/>
                </a:solidFill>
                <a:latin typeface="Aileron Bold"/>
                <a:ea typeface="Aileron Bold"/>
                <a:cs typeface="Aileron Bold"/>
                <a:sym typeface="Aileron Bold"/>
              </a:rPr>
              <a:t> Everyone experiences ups and downs; seeking help is normal.</a:t>
            </a:r>
          </a:p>
          <a:p>
            <a:pPr algn="just">
              <a:lnSpc>
                <a:spcPts val="2774"/>
              </a:lnSpc>
              <a:spcBef>
                <a:spcPct val="0"/>
              </a:spcBef>
            </a:pPr>
          </a:p>
        </p:txBody>
      </p:sp>
      <p:sp>
        <p:nvSpPr>
          <p:cNvPr name="TextBox 5" id="5"/>
          <p:cNvSpPr txBox="true"/>
          <p:nvPr/>
        </p:nvSpPr>
        <p:spPr>
          <a:xfrm rot="0">
            <a:off x="2407755" y="3230588"/>
            <a:ext cx="12217544" cy="1057275"/>
          </a:xfrm>
          <a:prstGeom prst="rect">
            <a:avLst/>
          </a:prstGeom>
        </p:spPr>
        <p:txBody>
          <a:bodyPr anchor="t" rtlCol="false" tIns="0" lIns="0" bIns="0" rIns="0">
            <a:spAutoFit/>
          </a:bodyPr>
          <a:lstStyle/>
          <a:p>
            <a:pPr algn="l">
              <a:lnSpc>
                <a:spcPts val="8279"/>
              </a:lnSpc>
            </a:pPr>
            <a:r>
              <a:rPr lang="en-US" sz="6899" b="true">
                <a:solidFill>
                  <a:srgbClr val="FFFFFF"/>
                </a:solidFill>
                <a:latin typeface="Aileron Bold"/>
                <a:ea typeface="Aileron Bold"/>
                <a:cs typeface="Aileron Bold"/>
                <a:sym typeface="Aileron Bold"/>
              </a:rPr>
              <a:t>What is </a:t>
            </a:r>
            <a:r>
              <a:rPr lang="en-US" sz="6899" b="true">
                <a:solidFill>
                  <a:srgbClr val="000000"/>
                </a:solidFill>
                <a:latin typeface="Aileron Bold"/>
                <a:ea typeface="Aileron Bold"/>
                <a:cs typeface="Aileron Bold"/>
                <a:sym typeface="Aileron Bold"/>
              </a:rPr>
              <a:t>Mental Health</a:t>
            </a:r>
            <a:r>
              <a:rPr lang="en-US" sz="6899" b="true">
                <a:solidFill>
                  <a:srgbClr val="FFFFFF"/>
                </a:solidFill>
                <a:latin typeface="Aileron Bold"/>
                <a:ea typeface="Aileron Bold"/>
                <a:cs typeface="Aileron Bold"/>
                <a:sym typeface="Aileron Bold"/>
              </a:rPr>
              <a: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194207"/>
            <a:ext cx="18288000" cy="6092793"/>
            <a:chOff x="0" y="0"/>
            <a:chExt cx="4816593" cy="1604686"/>
          </a:xfrm>
        </p:grpSpPr>
        <p:sp>
          <p:nvSpPr>
            <p:cNvPr name="Freeform 3" id="3"/>
            <p:cNvSpPr/>
            <p:nvPr/>
          </p:nvSpPr>
          <p:spPr>
            <a:xfrm flipH="false" flipV="false" rot="0">
              <a:off x="0" y="0"/>
              <a:ext cx="4816592" cy="1604686"/>
            </a:xfrm>
            <a:custGeom>
              <a:avLst/>
              <a:gdLst/>
              <a:ahLst/>
              <a:cxnLst/>
              <a:rect r="r" b="b" t="t" l="l"/>
              <a:pathLst>
                <a:path h="1604686" w="4816592">
                  <a:moveTo>
                    <a:pt x="0" y="0"/>
                  </a:moveTo>
                  <a:lnTo>
                    <a:pt x="4816592" y="0"/>
                  </a:lnTo>
                  <a:lnTo>
                    <a:pt x="4816592" y="1604686"/>
                  </a:lnTo>
                  <a:lnTo>
                    <a:pt x="0" y="1604686"/>
                  </a:lnTo>
                  <a:close/>
                </a:path>
              </a:pathLst>
            </a:custGeom>
            <a:solidFill>
              <a:srgbClr val="EBB8A9"/>
            </a:solidFill>
          </p:spPr>
        </p:sp>
        <p:sp>
          <p:nvSpPr>
            <p:cNvPr name="TextBox 4" id="4"/>
            <p:cNvSpPr txBox="true"/>
            <p:nvPr/>
          </p:nvSpPr>
          <p:spPr>
            <a:xfrm>
              <a:off x="0" y="-57150"/>
              <a:ext cx="4816593" cy="1661836"/>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2210827" y="1619994"/>
            <a:ext cx="14394130" cy="3367082"/>
            <a:chOff x="0" y="0"/>
            <a:chExt cx="19192174" cy="4489443"/>
          </a:xfrm>
        </p:grpSpPr>
        <p:sp>
          <p:nvSpPr>
            <p:cNvPr name="TextBox 6" id="6"/>
            <p:cNvSpPr txBox="true"/>
            <p:nvPr/>
          </p:nvSpPr>
          <p:spPr>
            <a:xfrm rot="0">
              <a:off x="0" y="0"/>
              <a:ext cx="19192174" cy="3352800"/>
            </a:xfrm>
            <a:prstGeom prst="rect">
              <a:avLst/>
            </a:prstGeom>
          </p:spPr>
          <p:txBody>
            <a:bodyPr anchor="t" rtlCol="false" tIns="0" lIns="0" bIns="0" rIns="0">
              <a:spAutoFit/>
            </a:bodyPr>
            <a:lstStyle/>
            <a:p>
              <a:pPr algn="ctr">
                <a:lnSpc>
                  <a:spcPts val="9959"/>
                </a:lnSpc>
              </a:pPr>
              <a:r>
                <a:rPr lang="en-US" b="true" sz="8299">
                  <a:solidFill>
                    <a:srgbClr val="000000"/>
                  </a:solidFill>
                  <a:latin typeface="Aileron Bold"/>
                  <a:ea typeface="Aileron Bold"/>
                  <a:cs typeface="Aileron Bold"/>
                  <a:sym typeface="Aileron Bold"/>
                </a:rPr>
                <a:t>Why </a:t>
              </a:r>
              <a:r>
                <a:rPr lang="en-US" b="true" sz="8299">
                  <a:solidFill>
                    <a:srgbClr val="B6897C"/>
                  </a:solidFill>
                  <a:latin typeface="Aileron Bold"/>
                  <a:ea typeface="Aileron Bold"/>
                  <a:cs typeface="Aileron Bold"/>
                  <a:sym typeface="Aileron Bold"/>
                </a:rPr>
                <a:t>Mental Health </a:t>
              </a:r>
              <a:r>
                <a:rPr lang="en-US" b="true" sz="8299">
                  <a:solidFill>
                    <a:srgbClr val="000000"/>
                  </a:solidFill>
                  <a:latin typeface="Aileron Bold"/>
                  <a:ea typeface="Aileron Bold"/>
                  <a:cs typeface="Aileron Bold"/>
                  <a:sym typeface="Aileron Bold"/>
                </a:rPr>
                <a:t>Matters Today?</a:t>
              </a:r>
            </a:p>
          </p:txBody>
        </p:sp>
        <p:sp>
          <p:nvSpPr>
            <p:cNvPr name="TextBox 7" id="7"/>
            <p:cNvSpPr txBox="true"/>
            <p:nvPr/>
          </p:nvSpPr>
          <p:spPr>
            <a:xfrm rot="0">
              <a:off x="0" y="3841743"/>
              <a:ext cx="19192174" cy="647700"/>
            </a:xfrm>
            <a:prstGeom prst="rect">
              <a:avLst/>
            </a:prstGeom>
          </p:spPr>
          <p:txBody>
            <a:bodyPr anchor="t" rtlCol="false" tIns="0" lIns="0" bIns="0" rIns="0">
              <a:spAutoFit/>
            </a:bodyPr>
            <a:lstStyle/>
            <a:p>
              <a:pPr algn="ctr">
                <a:lnSpc>
                  <a:spcPts val="3839"/>
                </a:lnSpc>
              </a:pPr>
            </a:p>
          </p:txBody>
        </p:sp>
      </p:grpSp>
      <p:grpSp>
        <p:nvGrpSpPr>
          <p:cNvPr name="Group 8" id="8"/>
          <p:cNvGrpSpPr/>
          <p:nvPr/>
        </p:nvGrpSpPr>
        <p:grpSpPr>
          <a:xfrm rot="0">
            <a:off x="3310378" y="4637876"/>
            <a:ext cx="5422254" cy="1011249"/>
            <a:chOff x="0" y="0"/>
            <a:chExt cx="7229672" cy="1348332"/>
          </a:xfrm>
        </p:grpSpPr>
        <p:sp>
          <p:nvSpPr>
            <p:cNvPr name="AutoShape 9" id="9"/>
            <p:cNvSpPr/>
            <p:nvPr/>
          </p:nvSpPr>
          <p:spPr>
            <a:xfrm>
              <a:off x="0" y="1341982"/>
              <a:ext cx="7229672" cy="0"/>
            </a:xfrm>
            <a:prstGeom prst="line">
              <a:avLst/>
            </a:prstGeom>
            <a:ln cap="rnd" w="63500">
              <a:solidFill>
                <a:srgbClr val="FFFFFF"/>
              </a:solidFill>
              <a:prstDash val="solid"/>
              <a:headEnd type="none" len="sm" w="sm"/>
              <a:tailEnd type="none" len="sm" w="sm"/>
            </a:ln>
          </p:spPr>
        </p:sp>
        <p:sp>
          <p:nvSpPr>
            <p:cNvPr name="TextBox 10" id="10"/>
            <p:cNvSpPr txBox="true"/>
            <p:nvPr/>
          </p:nvSpPr>
          <p:spPr>
            <a:xfrm rot="0">
              <a:off x="0" y="-57150"/>
              <a:ext cx="7229672" cy="11882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Me</a:t>
              </a:r>
              <a:r>
                <a:rPr lang="en-US" sz="2600">
                  <a:solidFill>
                    <a:srgbClr val="000000"/>
                  </a:solidFill>
                  <a:latin typeface="Aileron"/>
                  <a:ea typeface="Aileron"/>
                  <a:cs typeface="Aileron"/>
                  <a:sym typeface="Aileron"/>
                </a:rPr>
                <a:t>ntal health affects how we think, feel, and act every day.</a:t>
              </a:r>
            </a:p>
          </p:txBody>
        </p:sp>
      </p:grpSp>
      <p:grpSp>
        <p:nvGrpSpPr>
          <p:cNvPr name="Group 11" id="11"/>
          <p:cNvGrpSpPr/>
          <p:nvPr/>
        </p:nvGrpSpPr>
        <p:grpSpPr>
          <a:xfrm rot="0">
            <a:off x="3140682" y="8190420"/>
            <a:ext cx="5422254" cy="1011249"/>
            <a:chOff x="0" y="0"/>
            <a:chExt cx="7229672" cy="1348332"/>
          </a:xfrm>
        </p:grpSpPr>
        <p:sp>
          <p:nvSpPr>
            <p:cNvPr name="AutoShape 12" id="12"/>
            <p:cNvSpPr/>
            <p:nvPr/>
          </p:nvSpPr>
          <p:spPr>
            <a:xfrm>
              <a:off x="0" y="1341982"/>
              <a:ext cx="7229672" cy="0"/>
            </a:xfrm>
            <a:prstGeom prst="line">
              <a:avLst/>
            </a:prstGeom>
            <a:ln cap="rnd" w="63500">
              <a:solidFill>
                <a:srgbClr val="FFFFFF"/>
              </a:solidFill>
              <a:prstDash val="solid"/>
              <a:headEnd type="none" len="sm" w="sm"/>
              <a:tailEnd type="none" len="sm" w="sm"/>
            </a:ln>
          </p:spPr>
        </p:sp>
        <p:sp>
          <p:nvSpPr>
            <p:cNvPr name="TextBox 13" id="13"/>
            <p:cNvSpPr txBox="true"/>
            <p:nvPr/>
          </p:nvSpPr>
          <p:spPr>
            <a:xfrm rot="0">
              <a:off x="0" y="-57150"/>
              <a:ext cx="7229672" cy="11882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Soc</a:t>
              </a:r>
              <a:r>
                <a:rPr lang="en-US" sz="2600">
                  <a:solidFill>
                    <a:srgbClr val="000000"/>
                  </a:solidFill>
                  <a:latin typeface="Aileron"/>
                  <a:ea typeface="Aileron"/>
                  <a:cs typeface="Aileron"/>
                  <a:sym typeface="Aileron"/>
                </a:rPr>
                <a:t>ial media and comparison are impacting self-esteem and focus</a:t>
              </a:r>
            </a:p>
          </p:txBody>
        </p:sp>
      </p:grpSp>
      <p:grpSp>
        <p:nvGrpSpPr>
          <p:cNvPr name="Group 14" id="14"/>
          <p:cNvGrpSpPr/>
          <p:nvPr/>
        </p:nvGrpSpPr>
        <p:grpSpPr>
          <a:xfrm rot="0">
            <a:off x="3140682" y="6185548"/>
            <a:ext cx="5422254" cy="1468449"/>
            <a:chOff x="0" y="0"/>
            <a:chExt cx="7229672" cy="1957932"/>
          </a:xfrm>
        </p:grpSpPr>
        <p:sp>
          <p:nvSpPr>
            <p:cNvPr name="AutoShape 15" id="15"/>
            <p:cNvSpPr/>
            <p:nvPr/>
          </p:nvSpPr>
          <p:spPr>
            <a:xfrm>
              <a:off x="0" y="1951582"/>
              <a:ext cx="7229672" cy="0"/>
            </a:xfrm>
            <a:prstGeom prst="line">
              <a:avLst/>
            </a:prstGeom>
            <a:ln cap="rnd" w="63500">
              <a:solidFill>
                <a:srgbClr val="FFFFFF"/>
              </a:solidFill>
              <a:prstDash val="solid"/>
              <a:headEnd type="none" len="sm" w="sm"/>
              <a:tailEnd type="none" len="sm" w="sm"/>
            </a:ln>
          </p:spPr>
        </p:sp>
        <p:sp>
          <p:nvSpPr>
            <p:cNvPr name="TextBox 16" id="16"/>
            <p:cNvSpPr txBox="true"/>
            <p:nvPr/>
          </p:nvSpPr>
          <p:spPr>
            <a:xfrm rot="0">
              <a:off x="0" y="-57150"/>
              <a:ext cx="7229672" cy="17978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Awar</a:t>
              </a:r>
              <a:r>
                <a:rPr lang="en-US" sz="2600">
                  <a:solidFill>
                    <a:srgbClr val="000000"/>
                  </a:solidFill>
                  <a:latin typeface="Aileron"/>
                  <a:ea typeface="Aileron"/>
                  <a:cs typeface="Aileron"/>
                  <a:sym typeface="Aileron"/>
                </a:rPr>
                <a:t>eness helps us identify problems early and seek help sooner.</a:t>
              </a:r>
            </a:p>
          </p:txBody>
        </p:sp>
      </p:grpSp>
      <p:grpSp>
        <p:nvGrpSpPr>
          <p:cNvPr name="Group 17" id="17"/>
          <p:cNvGrpSpPr/>
          <p:nvPr/>
        </p:nvGrpSpPr>
        <p:grpSpPr>
          <a:xfrm rot="0">
            <a:off x="9555368" y="4637876"/>
            <a:ext cx="5422254" cy="1011249"/>
            <a:chOff x="0" y="0"/>
            <a:chExt cx="7229672" cy="1348332"/>
          </a:xfrm>
        </p:grpSpPr>
        <p:sp>
          <p:nvSpPr>
            <p:cNvPr name="AutoShape 18" id="18"/>
            <p:cNvSpPr/>
            <p:nvPr/>
          </p:nvSpPr>
          <p:spPr>
            <a:xfrm>
              <a:off x="0" y="1341982"/>
              <a:ext cx="7229672" cy="0"/>
            </a:xfrm>
            <a:prstGeom prst="line">
              <a:avLst/>
            </a:prstGeom>
            <a:ln cap="rnd" w="63500">
              <a:solidFill>
                <a:srgbClr val="FFFFFF"/>
              </a:solidFill>
              <a:prstDash val="solid"/>
              <a:headEnd type="none" len="sm" w="sm"/>
              <a:tailEnd type="none" len="sm" w="sm"/>
            </a:ln>
          </p:spPr>
        </p:sp>
        <p:sp>
          <p:nvSpPr>
            <p:cNvPr name="TextBox 19" id="19"/>
            <p:cNvSpPr txBox="true"/>
            <p:nvPr/>
          </p:nvSpPr>
          <p:spPr>
            <a:xfrm rot="0">
              <a:off x="0" y="-57150"/>
              <a:ext cx="7229672" cy="11882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St</a:t>
              </a:r>
              <a:r>
                <a:rPr lang="en-US" sz="2600">
                  <a:solidFill>
                    <a:srgbClr val="000000"/>
                  </a:solidFill>
                  <a:latin typeface="Aileron"/>
                  <a:ea typeface="Aileron"/>
                  <a:cs typeface="Aileron"/>
                  <a:sym typeface="Aileron"/>
                </a:rPr>
                <a:t>ress, anxiety, and depression are rising in today’s fast-paced world.</a:t>
              </a:r>
            </a:p>
          </p:txBody>
        </p:sp>
      </p:grpSp>
      <p:grpSp>
        <p:nvGrpSpPr>
          <p:cNvPr name="Group 20" id="20"/>
          <p:cNvGrpSpPr/>
          <p:nvPr/>
        </p:nvGrpSpPr>
        <p:grpSpPr>
          <a:xfrm rot="0">
            <a:off x="9714803" y="6185548"/>
            <a:ext cx="5741124" cy="1468449"/>
            <a:chOff x="0" y="0"/>
            <a:chExt cx="7654832" cy="1957932"/>
          </a:xfrm>
        </p:grpSpPr>
        <p:sp>
          <p:nvSpPr>
            <p:cNvPr name="AutoShape 21" id="21"/>
            <p:cNvSpPr/>
            <p:nvPr/>
          </p:nvSpPr>
          <p:spPr>
            <a:xfrm>
              <a:off x="0" y="1951582"/>
              <a:ext cx="7654832" cy="0"/>
            </a:xfrm>
            <a:prstGeom prst="line">
              <a:avLst/>
            </a:prstGeom>
            <a:ln cap="rnd" w="63500">
              <a:solidFill>
                <a:srgbClr val="FFFFFF"/>
              </a:solidFill>
              <a:prstDash val="solid"/>
              <a:headEnd type="none" len="sm" w="sm"/>
              <a:tailEnd type="none" len="sm" w="sm"/>
            </a:ln>
          </p:spPr>
        </p:sp>
        <p:sp>
          <p:nvSpPr>
            <p:cNvPr name="TextBox 22" id="22"/>
            <p:cNvSpPr txBox="true"/>
            <p:nvPr/>
          </p:nvSpPr>
          <p:spPr>
            <a:xfrm rot="0">
              <a:off x="0" y="-57150"/>
              <a:ext cx="7654832" cy="17978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Poor mental health </a:t>
              </a:r>
              <a:r>
                <a:rPr lang="en-US" sz="2600">
                  <a:solidFill>
                    <a:srgbClr val="000000"/>
                  </a:solidFill>
                  <a:latin typeface="Aileron"/>
                  <a:ea typeface="Aileron"/>
                  <a:cs typeface="Aileron"/>
                  <a:sym typeface="Aileron"/>
                </a:rPr>
                <a:t>can reduce productivity and academic performance.</a:t>
              </a:r>
            </a:p>
          </p:txBody>
        </p:sp>
      </p:grpSp>
      <p:grpSp>
        <p:nvGrpSpPr>
          <p:cNvPr name="Group 23" id="23"/>
          <p:cNvGrpSpPr/>
          <p:nvPr/>
        </p:nvGrpSpPr>
        <p:grpSpPr>
          <a:xfrm rot="0">
            <a:off x="9874238" y="8190420"/>
            <a:ext cx="5422254" cy="1011249"/>
            <a:chOff x="0" y="0"/>
            <a:chExt cx="7229672" cy="1348332"/>
          </a:xfrm>
        </p:grpSpPr>
        <p:sp>
          <p:nvSpPr>
            <p:cNvPr name="AutoShape 24" id="24"/>
            <p:cNvSpPr/>
            <p:nvPr/>
          </p:nvSpPr>
          <p:spPr>
            <a:xfrm>
              <a:off x="0" y="1341982"/>
              <a:ext cx="7229672" cy="0"/>
            </a:xfrm>
            <a:prstGeom prst="line">
              <a:avLst/>
            </a:prstGeom>
            <a:ln cap="rnd" w="63500">
              <a:solidFill>
                <a:srgbClr val="FFFFFF"/>
              </a:solidFill>
              <a:prstDash val="solid"/>
              <a:headEnd type="none" len="sm" w="sm"/>
              <a:tailEnd type="none" len="sm" w="sm"/>
            </a:ln>
          </p:spPr>
        </p:sp>
        <p:sp>
          <p:nvSpPr>
            <p:cNvPr name="TextBox 25" id="25"/>
            <p:cNvSpPr txBox="true"/>
            <p:nvPr/>
          </p:nvSpPr>
          <p:spPr>
            <a:xfrm rot="0">
              <a:off x="0" y="-57150"/>
              <a:ext cx="7229672" cy="1188297"/>
            </a:xfrm>
            <a:prstGeom prst="rect">
              <a:avLst/>
            </a:prstGeom>
          </p:spPr>
          <p:txBody>
            <a:bodyPr anchor="t" rtlCol="false" tIns="0" lIns="0" bIns="0" rIns="0">
              <a:spAutoFit/>
            </a:bodyPr>
            <a:lstStyle/>
            <a:p>
              <a:pPr algn="ctr">
                <a:lnSpc>
                  <a:spcPts val="3640"/>
                </a:lnSpc>
              </a:pPr>
              <a:r>
                <a:rPr lang="en-US" sz="2600">
                  <a:solidFill>
                    <a:srgbClr val="000000"/>
                  </a:solidFill>
                  <a:latin typeface="Aileron"/>
                  <a:ea typeface="Aileron"/>
                  <a:cs typeface="Aileron"/>
                  <a:sym typeface="Aileron"/>
                </a:rPr>
                <a:t>Good mental </a:t>
              </a:r>
              <a:r>
                <a:rPr lang="en-US" sz="2600">
                  <a:solidFill>
                    <a:srgbClr val="000000"/>
                  </a:solidFill>
                  <a:latin typeface="Aileron"/>
                  <a:ea typeface="Aileron"/>
                  <a:cs typeface="Aileron"/>
                  <a:sym typeface="Aileron"/>
                </a:rPr>
                <a:t>health leads to better relationships and decision-making</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450254"/>
            <a:ext cx="6063565" cy="2914650"/>
          </a:xfrm>
          <a:prstGeom prst="rect">
            <a:avLst/>
          </a:prstGeom>
        </p:spPr>
        <p:txBody>
          <a:bodyPr anchor="t" rtlCol="false" tIns="0" lIns="0" bIns="0" rIns="0">
            <a:spAutoFit/>
          </a:bodyPr>
          <a:lstStyle/>
          <a:p>
            <a:pPr algn="l">
              <a:lnSpc>
                <a:spcPts val="7680"/>
              </a:lnSpc>
            </a:pPr>
            <a:r>
              <a:rPr lang="en-US" sz="6400" b="true">
                <a:solidFill>
                  <a:srgbClr val="000000"/>
                </a:solidFill>
                <a:latin typeface="Aileron Bold"/>
                <a:ea typeface="Aileron Bold"/>
                <a:cs typeface="Aileron Bold"/>
                <a:sym typeface="Aileron Bold"/>
              </a:rPr>
              <a:t>Common</a:t>
            </a:r>
            <a:r>
              <a:rPr lang="en-US" sz="6400" b="true">
                <a:solidFill>
                  <a:srgbClr val="000000"/>
                </a:solidFill>
                <a:latin typeface="Aileron Bold"/>
                <a:ea typeface="Aileron Bold"/>
                <a:cs typeface="Aileron Bold"/>
                <a:sym typeface="Aileron Bold"/>
              </a:rPr>
              <a:t> Mental Health</a:t>
            </a:r>
            <a:r>
              <a:rPr lang="en-US" sz="6400" b="true">
                <a:solidFill>
                  <a:srgbClr val="B6897C"/>
                </a:solidFill>
                <a:latin typeface="Aileron Bold"/>
                <a:ea typeface="Aileron Bold"/>
                <a:cs typeface="Aileron Bold"/>
                <a:sym typeface="Aileron Bold"/>
              </a:rPr>
              <a:t> Issues</a:t>
            </a:r>
          </a:p>
        </p:txBody>
      </p:sp>
      <p:sp>
        <p:nvSpPr>
          <p:cNvPr name="TextBox 3" id="3"/>
          <p:cNvSpPr txBox="true"/>
          <p:nvPr/>
        </p:nvSpPr>
        <p:spPr>
          <a:xfrm rot="0">
            <a:off x="7377328" y="1565767"/>
            <a:ext cx="2749861" cy="669562"/>
          </a:xfrm>
          <a:prstGeom prst="rect">
            <a:avLst/>
          </a:prstGeom>
        </p:spPr>
        <p:txBody>
          <a:bodyPr anchor="t" rtlCol="false" tIns="0" lIns="0" bIns="0" rIns="0">
            <a:spAutoFit/>
          </a:bodyPr>
          <a:lstStyle/>
          <a:p>
            <a:pPr algn="ctr">
              <a:lnSpc>
                <a:spcPts val="5454"/>
              </a:lnSpc>
            </a:pPr>
            <a:r>
              <a:rPr lang="en-US" b="true" sz="3895">
                <a:solidFill>
                  <a:srgbClr val="B6897C"/>
                </a:solidFill>
                <a:latin typeface="Aileron Bold"/>
                <a:ea typeface="Aileron Bold"/>
                <a:cs typeface="Aileron Bold"/>
                <a:sym typeface="Aileron Bold"/>
              </a:rPr>
              <a:t>•</a:t>
            </a:r>
            <a:r>
              <a:rPr lang="en-US" b="true" sz="3895">
                <a:solidFill>
                  <a:srgbClr val="B6897C"/>
                </a:solidFill>
                <a:latin typeface="Aileron Bold"/>
                <a:ea typeface="Aileron Bold"/>
                <a:cs typeface="Aileron Bold"/>
                <a:sym typeface="Aileron Bold"/>
              </a:rPr>
              <a:t>ANXIETY</a:t>
            </a:r>
          </a:p>
        </p:txBody>
      </p:sp>
      <p:sp>
        <p:nvSpPr>
          <p:cNvPr name="TextBox 4" id="4"/>
          <p:cNvSpPr txBox="true"/>
          <p:nvPr/>
        </p:nvSpPr>
        <p:spPr>
          <a:xfrm rot="0">
            <a:off x="7377328" y="2178179"/>
            <a:ext cx="10270130" cy="521414"/>
          </a:xfrm>
          <a:prstGeom prst="rect">
            <a:avLst/>
          </a:prstGeom>
        </p:spPr>
        <p:txBody>
          <a:bodyPr anchor="t" rtlCol="false" tIns="0" lIns="0" bIns="0" rIns="0">
            <a:spAutoFit/>
          </a:bodyPr>
          <a:lstStyle/>
          <a:p>
            <a:pPr algn="l">
              <a:lnSpc>
                <a:spcPts val="4335"/>
              </a:lnSpc>
            </a:pPr>
            <a:r>
              <a:rPr lang="en-US" sz="3096" b="true">
                <a:solidFill>
                  <a:srgbClr val="000000"/>
                </a:solidFill>
                <a:latin typeface="Aileron Bold"/>
                <a:ea typeface="Aileron Bold"/>
                <a:cs typeface="Aileron Bold"/>
                <a:sym typeface="Aileron Bold"/>
              </a:rPr>
              <a:t>Constant worry, overthinking, and fear of future events.</a:t>
            </a:r>
          </a:p>
        </p:txBody>
      </p:sp>
      <p:sp>
        <p:nvSpPr>
          <p:cNvPr name="AutoShape 5" id="5">
            <a:extLst>
              <a:ext uri="{C183D7F6-B498-43B3-948B-1728B52AA6E4}">
                <adec:decorative xmlns:adec="http://schemas.microsoft.com/office/drawing/2017/decorative" val="1"/>
              </a:ext>
            </a:extLst>
          </p:cNvPr>
          <p:cNvSpPr/>
          <p:nvPr/>
        </p:nvSpPr>
        <p:spPr>
          <a:xfrm>
            <a:off x="1028700" y="1023938"/>
            <a:ext cx="16230600" cy="0"/>
          </a:xfrm>
          <a:prstGeom prst="line">
            <a:avLst/>
          </a:prstGeom>
          <a:ln cap="rnd" w="9525">
            <a:solidFill>
              <a:srgbClr val="B6897C"/>
            </a:solidFill>
            <a:prstDash val="solid"/>
            <a:headEnd type="none" len="sm" w="sm"/>
            <a:tailEnd type="none" len="sm" w="sm"/>
          </a:ln>
        </p:spPr>
      </p:sp>
      <p:sp>
        <p:nvSpPr>
          <p:cNvPr name="TextBox 6" id="6"/>
          <p:cNvSpPr txBox="true"/>
          <p:nvPr/>
        </p:nvSpPr>
        <p:spPr>
          <a:xfrm rot="0">
            <a:off x="7377328" y="3244382"/>
            <a:ext cx="3616271" cy="651568"/>
          </a:xfrm>
          <a:prstGeom prst="rect">
            <a:avLst/>
          </a:prstGeom>
        </p:spPr>
        <p:txBody>
          <a:bodyPr anchor="t" rtlCol="false" tIns="0" lIns="0" bIns="0" rIns="0">
            <a:spAutoFit/>
          </a:bodyPr>
          <a:lstStyle/>
          <a:p>
            <a:pPr algn="ctr">
              <a:lnSpc>
                <a:spcPts val="5375"/>
              </a:lnSpc>
            </a:pPr>
            <a:r>
              <a:rPr lang="en-US" b="true" sz="3839">
                <a:solidFill>
                  <a:srgbClr val="B6897C"/>
                </a:solidFill>
                <a:latin typeface="Aileron Bold"/>
                <a:ea typeface="Aileron Bold"/>
                <a:cs typeface="Aileron Bold"/>
                <a:sym typeface="Aileron Bold"/>
              </a:rPr>
              <a:t>•D</a:t>
            </a:r>
            <a:r>
              <a:rPr lang="en-US" b="true" sz="3839">
                <a:solidFill>
                  <a:srgbClr val="B6897C"/>
                </a:solidFill>
                <a:latin typeface="Aileron Bold"/>
                <a:ea typeface="Aileron Bold"/>
                <a:cs typeface="Aileron Bold"/>
                <a:sym typeface="Aileron Bold"/>
              </a:rPr>
              <a:t>EPRESSION</a:t>
            </a:r>
          </a:p>
        </p:txBody>
      </p:sp>
      <p:sp>
        <p:nvSpPr>
          <p:cNvPr name="TextBox 7" id="7"/>
          <p:cNvSpPr txBox="true"/>
          <p:nvPr/>
        </p:nvSpPr>
        <p:spPr>
          <a:xfrm rot="0">
            <a:off x="7377328" y="3829275"/>
            <a:ext cx="10270130" cy="1056479"/>
          </a:xfrm>
          <a:prstGeom prst="rect">
            <a:avLst/>
          </a:prstGeom>
        </p:spPr>
        <p:txBody>
          <a:bodyPr anchor="t" rtlCol="false" tIns="0" lIns="0" bIns="0" rIns="0">
            <a:spAutoFit/>
          </a:bodyPr>
          <a:lstStyle/>
          <a:p>
            <a:pPr algn="l">
              <a:lnSpc>
                <a:spcPts val="4243"/>
              </a:lnSpc>
            </a:pPr>
            <a:r>
              <a:rPr lang="en-US" sz="3031" b="true">
                <a:solidFill>
                  <a:srgbClr val="000000"/>
                </a:solidFill>
                <a:latin typeface="Aileron Bold"/>
                <a:ea typeface="Aileron Bold"/>
                <a:cs typeface="Aileron Bold"/>
                <a:sym typeface="Aileron Bold"/>
              </a:rPr>
              <a:t>Pers</a:t>
            </a:r>
            <a:r>
              <a:rPr lang="en-US" sz="3031" b="true">
                <a:solidFill>
                  <a:srgbClr val="000000"/>
                </a:solidFill>
                <a:latin typeface="Aileron Bold"/>
                <a:ea typeface="Aileron Bold"/>
                <a:cs typeface="Aileron Bold"/>
                <a:sym typeface="Aileron Bold"/>
              </a:rPr>
              <a:t>istent sadness, low energy, and loss of interest in daily activities</a:t>
            </a:r>
          </a:p>
        </p:txBody>
      </p:sp>
      <p:sp>
        <p:nvSpPr>
          <p:cNvPr name="TextBox 8" id="8"/>
          <p:cNvSpPr txBox="true"/>
          <p:nvPr/>
        </p:nvSpPr>
        <p:spPr>
          <a:xfrm rot="0">
            <a:off x="7567151" y="5165720"/>
            <a:ext cx="2370215" cy="687723"/>
          </a:xfrm>
          <a:prstGeom prst="rect">
            <a:avLst/>
          </a:prstGeom>
        </p:spPr>
        <p:txBody>
          <a:bodyPr anchor="t" rtlCol="false" tIns="0" lIns="0" bIns="0" rIns="0">
            <a:spAutoFit/>
          </a:bodyPr>
          <a:lstStyle/>
          <a:p>
            <a:pPr algn="ctr">
              <a:lnSpc>
                <a:spcPts val="5623"/>
              </a:lnSpc>
            </a:pPr>
            <a:r>
              <a:rPr lang="en-US" b="true" sz="4017">
                <a:solidFill>
                  <a:srgbClr val="B6897C"/>
                </a:solidFill>
                <a:latin typeface="Aileron Bold"/>
                <a:ea typeface="Aileron Bold"/>
                <a:cs typeface="Aileron Bold"/>
                <a:sym typeface="Aileron Bold"/>
              </a:rPr>
              <a:t>• </a:t>
            </a:r>
            <a:r>
              <a:rPr lang="en-US" b="true" sz="4017">
                <a:solidFill>
                  <a:srgbClr val="B6897C"/>
                </a:solidFill>
                <a:latin typeface="Aileron Bold"/>
                <a:ea typeface="Aileron Bold"/>
                <a:cs typeface="Aileron Bold"/>
                <a:sym typeface="Aileron Bold"/>
              </a:rPr>
              <a:t>STRESS</a:t>
            </a:r>
          </a:p>
        </p:txBody>
      </p:sp>
      <p:sp>
        <p:nvSpPr>
          <p:cNvPr name="TextBox 9" id="9"/>
          <p:cNvSpPr txBox="true"/>
          <p:nvPr/>
        </p:nvSpPr>
        <p:spPr>
          <a:xfrm rot="0">
            <a:off x="7377328" y="5786768"/>
            <a:ext cx="10260605" cy="1056338"/>
          </a:xfrm>
          <a:prstGeom prst="rect">
            <a:avLst/>
          </a:prstGeom>
        </p:spPr>
        <p:txBody>
          <a:bodyPr anchor="t" rtlCol="false" tIns="0" lIns="0" bIns="0" rIns="0">
            <a:spAutoFit/>
          </a:bodyPr>
          <a:lstStyle/>
          <a:p>
            <a:pPr algn="l">
              <a:lnSpc>
                <a:spcPts val="4251"/>
              </a:lnSpc>
            </a:pPr>
            <a:r>
              <a:rPr lang="en-US" sz="3036" b="true">
                <a:solidFill>
                  <a:srgbClr val="000000"/>
                </a:solidFill>
                <a:latin typeface="Aileron Bold"/>
                <a:ea typeface="Aileron Bold"/>
                <a:cs typeface="Aileron Bold"/>
                <a:sym typeface="Aileron Bold"/>
              </a:rPr>
              <a:t>Mental pressure caused by deadlines, expectations, or tough situations.</a:t>
            </a:r>
          </a:p>
        </p:txBody>
      </p:sp>
      <p:sp>
        <p:nvSpPr>
          <p:cNvPr name="TextBox 10" id="10"/>
          <p:cNvSpPr txBox="true"/>
          <p:nvPr/>
        </p:nvSpPr>
        <p:spPr>
          <a:xfrm rot="0">
            <a:off x="7567151" y="7138381"/>
            <a:ext cx="2786266" cy="655065"/>
          </a:xfrm>
          <a:prstGeom prst="rect">
            <a:avLst/>
          </a:prstGeom>
        </p:spPr>
        <p:txBody>
          <a:bodyPr anchor="t" rtlCol="false" tIns="0" lIns="0" bIns="0" rIns="0">
            <a:spAutoFit/>
          </a:bodyPr>
          <a:lstStyle/>
          <a:p>
            <a:pPr algn="ctr">
              <a:lnSpc>
                <a:spcPts val="5496"/>
              </a:lnSpc>
            </a:pPr>
            <a:r>
              <a:rPr lang="en-US" b="true" sz="3926">
                <a:solidFill>
                  <a:srgbClr val="B6897C"/>
                </a:solidFill>
                <a:latin typeface="Aileron Bold"/>
                <a:ea typeface="Aileron Bold"/>
                <a:cs typeface="Aileron Bold"/>
                <a:sym typeface="Aileron Bold"/>
              </a:rPr>
              <a:t>•</a:t>
            </a:r>
            <a:r>
              <a:rPr lang="en-US" b="true" sz="3926">
                <a:solidFill>
                  <a:srgbClr val="B6897C"/>
                </a:solidFill>
                <a:latin typeface="Aileron Bold"/>
                <a:ea typeface="Aileron Bold"/>
                <a:cs typeface="Aileron Bold"/>
                <a:sym typeface="Aileron Bold"/>
              </a:rPr>
              <a:t>BURNOUT</a:t>
            </a:r>
          </a:p>
        </p:txBody>
      </p:sp>
      <p:sp>
        <p:nvSpPr>
          <p:cNvPr name="TextBox 11" id="11"/>
          <p:cNvSpPr txBox="true"/>
          <p:nvPr/>
        </p:nvSpPr>
        <p:spPr>
          <a:xfrm rot="0">
            <a:off x="7377328" y="7726771"/>
            <a:ext cx="10270130" cy="1531529"/>
          </a:xfrm>
          <a:prstGeom prst="rect">
            <a:avLst/>
          </a:prstGeom>
        </p:spPr>
        <p:txBody>
          <a:bodyPr anchor="t" rtlCol="false" tIns="0" lIns="0" bIns="0" rIns="0">
            <a:spAutoFit/>
          </a:bodyPr>
          <a:lstStyle/>
          <a:p>
            <a:pPr algn="l">
              <a:lnSpc>
                <a:spcPts val="4114"/>
              </a:lnSpc>
            </a:pPr>
            <a:r>
              <a:rPr lang="en-US" sz="2938" b="true">
                <a:solidFill>
                  <a:srgbClr val="000000"/>
                </a:solidFill>
                <a:latin typeface="Aileron Bold"/>
                <a:ea typeface="Aileron Bold"/>
                <a:cs typeface="Aileron Bold"/>
                <a:sym typeface="Aileron Bold"/>
              </a:rPr>
              <a:t>Emot</a:t>
            </a:r>
            <a:r>
              <a:rPr lang="en-US" sz="2938" b="true">
                <a:solidFill>
                  <a:srgbClr val="000000"/>
                </a:solidFill>
                <a:latin typeface="Aileron Bold"/>
                <a:ea typeface="Aileron Bold"/>
                <a:cs typeface="Aileron Bold"/>
                <a:sym typeface="Aileron Bold"/>
              </a:rPr>
              <a:t>ional and physical exhaustion from long-term stress or overload.</a:t>
            </a:r>
          </a:p>
          <a:p>
            <a:pPr algn="l">
              <a:lnSpc>
                <a:spcPts val="4114"/>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3957" y="1028700"/>
            <a:ext cx="17964043" cy="1985778"/>
            <a:chOff x="0" y="0"/>
            <a:chExt cx="23952057" cy="2647704"/>
          </a:xfrm>
        </p:grpSpPr>
        <p:sp>
          <p:nvSpPr>
            <p:cNvPr name="TextBox 3" id="3"/>
            <p:cNvSpPr txBox="true"/>
            <p:nvPr/>
          </p:nvSpPr>
          <p:spPr>
            <a:xfrm rot="0">
              <a:off x="0" y="-9525"/>
              <a:ext cx="23952057" cy="1443275"/>
            </a:xfrm>
            <a:prstGeom prst="rect">
              <a:avLst/>
            </a:prstGeom>
          </p:spPr>
          <p:txBody>
            <a:bodyPr anchor="t" rtlCol="false" tIns="0" lIns="0" bIns="0" rIns="0">
              <a:spAutoFit/>
            </a:bodyPr>
            <a:lstStyle/>
            <a:p>
              <a:pPr algn="l">
                <a:lnSpc>
                  <a:spcPts val="8500"/>
                </a:lnSpc>
              </a:pPr>
              <a:r>
                <a:rPr lang="en-US" sz="7083" b="true">
                  <a:solidFill>
                    <a:srgbClr val="000000"/>
                  </a:solidFill>
                  <a:latin typeface="Aileron Bold"/>
                  <a:ea typeface="Aileron Bold"/>
                  <a:cs typeface="Aileron Bold"/>
                  <a:sym typeface="Aileron Bold"/>
                </a:rPr>
                <a:t>How</a:t>
              </a:r>
              <a:r>
                <a:rPr lang="en-US" sz="7083" b="true">
                  <a:solidFill>
                    <a:srgbClr val="000000"/>
                  </a:solidFill>
                  <a:latin typeface="Aileron Bold"/>
                  <a:ea typeface="Aileron Bold"/>
                  <a:cs typeface="Aileron Bold"/>
                  <a:sym typeface="Aileron Bold"/>
                </a:rPr>
                <a:t> to</a:t>
              </a:r>
              <a:r>
                <a:rPr lang="en-US" sz="7083" b="true">
                  <a:solidFill>
                    <a:srgbClr val="B6897C"/>
                  </a:solidFill>
                  <a:latin typeface="Aileron Bold"/>
                  <a:ea typeface="Aileron Bold"/>
                  <a:cs typeface="Aileron Bold"/>
                  <a:sym typeface="Aileron Bold"/>
                </a:rPr>
                <a:t> Support </a:t>
              </a:r>
              <a:r>
                <a:rPr lang="en-US" sz="7083" b="true">
                  <a:solidFill>
                    <a:srgbClr val="000000"/>
                  </a:solidFill>
                  <a:latin typeface="Aileron Bold"/>
                  <a:ea typeface="Aileron Bold"/>
                  <a:cs typeface="Aileron Bold"/>
                  <a:sym typeface="Aileron Bold"/>
                </a:rPr>
                <a:t>Y</a:t>
              </a:r>
              <a:r>
                <a:rPr lang="en-US" sz="7083" b="true">
                  <a:solidFill>
                    <a:srgbClr val="000000"/>
                  </a:solidFill>
                  <a:latin typeface="Aileron Bold"/>
                  <a:ea typeface="Aileron Bold"/>
                  <a:cs typeface="Aileron Bold"/>
                  <a:sym typeface="Aileron Bold"/>
                </a:rPr>
                <a:t>o</a:t>
              </a:r>
              <a:r>
                <a:rPr lang="en-US" sz="7083" b="true">
                  <a:solidFill>
                    <a:srgbClr val="000000"/>
                  </a:solidFill>
                  <a:latin typeface="Aileron Bold"/>
                  <a:ea typeface="Aileron Bold"/>
                  <a:cs typeface="Aileron Bold"/>
                  <a:sym typeface="Aileron Bold"/>
                </a:rPr>
                <a:t>ur Mental Heal</a:t>
              </a:r>
              <a:r>
                <a:rPr lang="en-US" sz="7083" b="true">
                  <a:solidFill>
                    <a:srgbClr val="000000"/>
                  </a:solidFill>
                  <a:latin typeface="Aileron Bold"/>
                  <a:ea typeface="Aileron Bold"/>
                  <a:cs typeface="Aileron Bold"/>
                  <a:sym typeface="Aileron Bold"/>
                </a:rPr>
                <a:t>th</a:t>
              </a:r>
            </a:p>
          </p:txBody>
        </p:sp>
        <p:sp>
          <p:nvSpPr>
            <p:cNvPr name="TextBox 4" id="4"/>
            <p:cNvSpPr txBox="true"/>
            <p:nvPr/>
          </p:nvSpPr>
          <p:spPr>
            <a:xfrm rot="0">
              <a:off x="0" y="1987054"/>
              <a:ext cx="23952057" cy="660649"/>
            </a:xfrm>
            <a:prstGeom prst="rect">
              <a:avLst/>
            </a:prstGeom>
          </p:spPr>
          <p:txBody>
            <a:bodyPr anchor="t" rtlCol="false" tIns="0" lIns="0" bIns="0" rIns="0">
              <a:spAutoFit/>
            </a:bodyPr>
            <a:lstStyle/>
            <a:p>
              <a:pPr algn="l">
                <a:lnSpc>
                  <a:spcPts val="3984"/>
                </a:lnSpc>
              </a:pPr>
            </a:p>
          </p:txBody>
        </p:sp>
      </p:grpSp>
      <p:grpSp>
        <p:nvGrpSpPr>
          <p:cNvPr name="Group 5" id="5"/>
          <p:cNvGrpSpPr/>
          <p:nvPr/>
        </p:nvGrpSpPr>
        <p:grpSpPr>
          <a:xfrm rot="0">
            <a:off x="1029530" y="3122456"/>
            <a:ext cx="4670268" cy="1766138"/>
            <a:chOff x="0" y="0"/>
            <a:chExt cx="6227025" cy="2354850"/>
          </a:xfrm>
        </p:grpSpPr>
        <p:sp>
          <p:nvSpPr>
            <p:cNvPr name="TextBox 6" id="6"/>
            <p:cNvSpPr txBox="true"/>
            <p:nvPr/>
          </p:nvSpPr>
          <p:spPr>
            <a:xfrm rot="0">
              <a:off x="0" y="-57150"/>
              <a:ext cx="6227025" cy="578697"/>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Main</a:t>
              </a:r>
              <a:r>
                <a:rPr lang="en-US" sz="2600" b="true">
                  <a:solidFill>
                    <a:srgbClr val="000000"/>
                  </a:solidFill>
                  <a:latin typeface="Aileron Bold"/>
                  <a:ea typeface="Aileron Bold"/>
                  <a:cs typeface="Aileron Bold"/>
                  <a:sym typeface="Aileron Bold"/>
                </a:rPr>
                <a:t>tain a routine</a:t>
              </a:r>
            </a:p>
          </p:txBody>
        </p:sp>
        <p:sp>
          <p:nvSpPr>
            <p:cNvPr name="TextBox 7" id="7"/>
            <p:cNvSpPr txBox="true"/>
            <p:nvPr/>
          </p:nvSpPr>
          <p:spPr>
            <a:xfrm rot="0">
              <a:off x="0" y="1349857"/>
              <a:ext cx="6227025" cy="1004993"/>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A</a:t>
              </a:r>
              <a:r>
                <a:rPr lang="en-US" sz="2200">
                  <a:solidFill>
                    <a:srgbClr val="000000"/>
                  </a:solidFill>
                  <a:latin typeface="Aileron"/>
                  <a:ea typeface="Aileron"/>
                  <a:cs typeface="Aileron"/>
                  <a:sym typeface="Aileron"/>
                </a:rPr>
                <a:t> stable daily schedule keeps your mind organized.</a:t>
              </a:r>
            </a:p>
          </p:txBody>
        </p:sp>
        <p:sp>
          <p:nvSpPr>
            <p:cNvPr name="AutoShape 8" id="8"/>
            <p:cNvSpPr/>
            <p:nvPr/>
          </p:nvSpPr>
          <p:spPr>
            <a:xfrm>
              <a:off x="0" y="910240"/>
              <a:ext cx="6227025" cy="0"/>
            </a:xfrm>
            <a:prstGeom prst="line">
              <a:avLst/>
            </a:prstGeom>
            <a:ln cap="rnd" w="12700">
              <a:solidFill>
                <a:srgbClr val="B6897C"/>
              </a:solidFill>
              <a:prstDash val="solid"/>
              <a:headEnd type="none" len="sm" w="sm"/>
              <a:tailEnd type="none" len="sm" w="sm"/>
            </a:ln>
          </p:spPr>
        </p:sp>
      </p:grpSp>
      <p:grpSp>
        <p:nvGrpSpPr>
          <p:cNvPr name="Group 9" id="9"/>
          <p:cNvGrpSpPr/>
          <p:nvPr/>
        </p:nvGrpSpPr>
        <p:grpSpPr>
          <a:xfrm rot="0">
            <a:off x="6718974" y="3122456"/>
            <a:ext cx="4670268" cy="1766138"/>
            <a:chOff x="0" y="0"/>
            <a:chExt cx="6227025" cy="2354850"/>
          </a:xfrm>
        </p:grpSpPr>
        <p:sp>
          <p:nvSpPr>
            <p:cNvPr name="TextBox 10" id="10"/>
            <p:cNvSpPr txBox="true"/>
            <p:nvPr/>
          </p:nvSpPr>
          <p:spPr>
            <a:xfrm rot="0">
              <a:off x="0" y="-57150"/>
              <a:ext cx="6227025" cy="578697"/>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G</a:t>
              </a:r>
              <a:r>
                <a:rPr lang="en-US" sz="2600" b="true">
                  <a:solidFill>
                    <a:srgbClr val="000000"/>
                  </a:solidFill>
                  <a:latin typeface="Aileron Bold"/>
                  <a:ea typeface="Aileron Bold"/>
                  <a:cs typeface="Aileron Bold"/>
                  <a:sym typeface="Aileron Bold"/>
                </a:rPr>
                <a:t>et enough sleep:</a:t>
              </a:r>
            </a:p>
          </p:txBody>
        </p:sp>
        <p:sp>
          <p:nvSpPr>
            <p:cNvPr name="TextBox 11" id="11"/>
            <p:cNvSpPr txBox="true"/>
            <p:nvPr/>
          </p:nvSpPr>
          <p:spPr>
            <a:xfrm rot="0">
              <a:off x="0" y="1349857"/>
              <a:ext cx="6227025" cy="1004993"/>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R</a:t>
              </a:r>
              <a:r>
                <a:rPr lang="en-US" sz="2200">
                  <a:solidFill>
                    <a:srgbClr val="000000"/>
                  </a:solidFill>
                  <a:latin typeface="Aileron"/>
                  <a:ea typeface="Aileron"/>
                  <a:cs typeface="Aileron"/>
                  <a:sym typeface="Aileron"/>
                </a:rPr>
                <a:t>est helps your brain recover and stay sharp.</a:t>
              </a:r>
            </a:p>
          </p:txBody>
        </p:sp>
        <p:sp>
          <p:nvSpPr>
            <p:cNvPr name="AutoShape 12" id="12"/>
            <p:cNvSpPr/>
            <p:nvPr/>
          </p:nvSpPr>
          <p:spPr>
            <a:xfrm>
              <a:off x="0" y="910240"/>
              <a:ext cx="6227025" cy="0"/>
            </a:xfrm>
            <a:prstGeom prst="line">
              <a:avLst/>
            </a:prstGeom>
            <a:ln cap="rnd" w="12700">
              <a:solidFill>
                <a:srgbClr val="B6897C"/>
              </a:solidFill>
              <a:prstDash val="solid"/>
              <a:headEnd type="none" len="sm" w="sm"/>
              <a:tailEnd type="none" len="sm" w="sm"/>
            </a:ln>
          </p:spPr>
        </p:sp>
      </p:grpSp>
      <p:grpSp>
        <p:nvGrpSpPr>
          <p:cNvPr name="Group 13" id="13"/>
          <p:cNvGrpSpPr/>
          <p:nvPr/>
        </p:nvGrpSpPr>
        <p:grpSpPr>
          <a:xfrm rot="0">
            <a:off x="12410078" y="3122456"/>
            <a:ext cx="4670268" cy="1766138"/>
            <a:chOff x="0" y="0"/>
            <a:chExt cx="6227025" cy="2354850"/>
          </a:xfrm>
        </p:grpSpPr>
        <p:sp>
          <p:nvSpPr>
            <p:cNvPr name="TextBox 14" id="14"/>
            <p:cNvSpPr txBox="true"/>
            <p:nvPr/>
          </p:nvSpPr>
          <p:spPr>
            <a:xfrm rot="0">
              <a:off x="0" y="-57150"/>
              <a:ext cx="6227025" cy="578697"/>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Stay </a:t>
              </a:r>
              <a:r>
                <a:rPr lang="en-US" sz="2600" b="true">
                  <a:solidFill>
                    <a:srgbClr val="000000"/>
                  </a:solidFill>
                  <a:latin typeface="Aileron Bold"/>
                  <a:ea typeface="Aileron Bold"/>
                  <a:cs typeface="Aileron Bold"/>
                  <a:sym typeface="Aileron Bold"/>
                </a:rPr>
                <a:t>physically active</a:t>
              </a:r>
            </a:p>
          </p:txBody>
        </p:sp>
        <p:sp>
          <p:nvSpPr>
            <p:cNvPr name="TextBox 15" id="15"/>
            <p:cNvSpPr txBox="true"/>
            <p:nvPr/>
          </p:nvSpPr>
          <p:spPr>
            <a:xfrm rot="0">
              <a:off x="0" y="1349857"/>
              <a:ext cx="6227025" cy="1004993"/>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Ex</a:t>
              </a:r>
              <a:r>
                <a:rPr lang="en-US" sz="2200">
                  <a:solidFill>
                    <a:srgbClr val="000000"/>
                  </a:solidFill>
                  <a:latin typeface="Aileron"/>
                  <a:ea typeface="Aileron"/>
                  <a:cs typeface="Aileron"/>
                  <a:sym typeface="Aileron"/>
                </a:rPr>
                <a:t>ercise boosts mood and reduces stress.</a:t>
              </a:r>
            </a:p>
          </p:txBody>
        </p:sp>
        <p:sp>
          <p:nvSpPr>
            <p:cNvPr name="AutoShape 16" id="16"/>
            <p:cNvSpPr/>
            <p:nvPr/>
          </p:nvSpPr>
          <p:spPr>
            <a:xfrm>
              <a:off x="0" y="910240"/>
              <a:ext cx="6227025" cy="0"/>
            </a:xfrm>
            <a:prstGeom prst="line">
              <a:avLst/>
            </a:prstGeom>
            <a:ln cap="rnd" w="12700">
              <a:solidFill>
                <a:srgbClr val="B6897C"/>
              </a:solidFill>
              <a:prstDash val="solid"/>
              <a:headEnd type="none" len="sm" w="sm"/>
              <a:tailEnd type="none" len="sm" w="sm"/>
            </a:ln>
          </p:spPr>
        </p:sp>
      </p:grpSp>
      <p:grpSp>
        <p:nvGrpSpPr>
          <p:cNvPr name="Group 17" id="17"/>
          <p:cNvGrpSpPr/>
          <p:nvPr/>
        </p:nvGrpSpPr>
        <p:grpSpPr>
          <a:xfrm rot="0">
            <a:off x="1029530" y="6135149"/>
            <a:ext cx="4670268" cy="1766138"/>
            <a:chOff x="0" y="0"/>
            <a:chExt cx="6227025" cy="2354850"/>
          </a:xfrm>
        </p:grpSpPr>
        <p:sp>
          <p:nvSpPr>
            <p:cNvPr name="TextBox 18" id="18"/>
            <p:cNvSpPr txBox="true"/>
            <p:nvPr/>
          </p:nvSpPr>
          <p:spPr>
            <a:xfrm rot="0">
              <a:off x="0" y="-57150"/>
              <a:ext cx="6227025" cy="578697"/>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Talk </a:t>
              </a:r>
              <a:r>
                <a:rPr lang="en-US" sz="2600" b="true">
                  <a:solidFill>
                    <a:srgbClr val="000000"/>
                  </a:solidFill>
                  <a:latin typeface="Aileron Bold"/>
                  <a:ea typeface="Aileron Bold"/>
                  <a:cs typeface="Aileron Bold"/>
                  <a:sym typeface="Aileron Bold"/>
                </a:rPr>
                <a:t>to someone you trust</a:t>
              </a:r>
            </a:p>
          </p:txBody>
        </p:sp>
        <p:sp>
          <p:nvSpPr>
            <p:cNvPr name="TextBox 19" id="19"/>
            <p:cNvSpPr txBox="true"/>
            <p:nvPr/>
          </p:nvSpPr>
          <p:spPr>
            <a:xfrm rot="0">
              <a:off x="0" y="1349857"/>
              <a:ext cx="6227025" cy="1004993"/>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Sh</a:t>
              </a:r>
              <a:r>
                <a:rPr lang="en-US" sz="2200">
                  <a:solidFill>
                    <a:srgbClr val="000000"/>
                  </a:solidFill>
                  <a:latin typeface="Aileron"/>
                  <a:ea typeface="Aileron"/>
                  <a:cs typeface="Aileron"/>
                  <a:sym typeface="Aileron"/>
                </a:rPr>
                <a:t>aring feelings lightens emotional load</a:t>
              </a:r>
            </a:p>
          </p:txBody>
        </p:sp>
        <p:sp>
          <p:nvSpPr>
            <p:cNvPr name="AutoShape 20" id="20"/>
            <p:cNvSpPr/>
            <p:nvPr/>
          </p:nvSpPr>
          <p:spPr>
            <a:xfrm>
              <a:off x="0" y="910240"/>
              <a:ext cx="6227025" cy="0"/>
            </a:xfrm>
            <a:prstGeom prst="line">
              <a:avLst/>
            </a:prstGeom>
            <a:ln cap="rnd" w="12700">
              <a:solidFill>
                <a:srgbClr val="B6897C"/>
              </a:solidFill>
              <a:prstDash val="solid"/>
              <a:headEnd type="none" len="sm" w="sm"/>
              <a:tailEnd type="none" len="sm" w="sm"/>
            </a:ln>
          </p:spPr>
        </p:sp>
      </p:grpSp>
      <p:grpSp>
        <p:nvGrpSpPr>
          <p:cNvPr name="Group 21" id="21"/>
          <p:cNvGrpSpPr/>
          <p:nvPr/>
        </p:nvGrpSpPr>
        <p:grpSpPr>
          <a:xfrm rot="0">
            <a:off x="6718974" y="6135149"/>
            <a:ext cx="4670268" cy="1766138"/>
            <a:chOff x="0" y="0"/>
            <a:chExt cx="6227025" cy="2354850"/>
          </a:xfrm>
        </p:grpSpPr>
        <p:sp>
          <p:nvSpPr>
            <p:cNvPr name="TextBox 22" id="22"/>
            <p:cNvSpPr txBox="true"/>
            <p:nvPr/>
          </p:nvSpPr>
          <p:spPr>
            <a:xfrm rot="0">
              <a:off x="0" y="-57150"/>
              <a:ext cx="6227025" cy="578697"/>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R</a:t>
              </a:r>
              <a:r>
                <a:rPr lang="en-US" sz="2600" b="true">
                  <a:solidFill>
                    <a:srgbClr val="000000"/>
                  </a:solidFill>
                  <a:latin typeface="Aileron Bold"/>
                  <a:ea typeface="Aileron Bold"/>
                  <a:cs typeface="Aileron Bold"/>
                  <a:sym typeface="Aileron Bold"/>
                </a:rPr>
                <a:t>educe screen time</a:t>
              </a:r>
            </a:p>
          </p:txBody>
        </p:sp>
        <p:sp>
          <p:nvSpPr>
            <p:cNvPr name="TextBox 23" id="23"/>
            <p:cNvSpPr txBox="true"/>
            <p:nvPr/>
          </p:nvSpPr>
          <p:spPr>
            <a:xfrm rot="0">
              <a:off x="0" y="1349857"/>
              <a:ext cx="6227025" cy="1004993"/>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H</a:t>
              </a:r>
              <a:r>
                <a:rPr lang="en-US" sz="2200">
                  <a:solidFill>
                    <a:srgbClr val="000000"/>
                  </a:solidFill>
                  <a:latin typeface="Aileron"/>
                  <a:ea typeface="Aileron"/>
                  <a:cs typeface="Aileron"/>
                  <a:sym typeface="Aileron"/>
                </a:rPr>
                <a:t>elps avoid comparison, overload, and anxiet</a:t>
              </a:r>
            </a:p>
          </p:txBody>
        </p:sp>
        <p:sp>
          <p:nvSpPr>
            <p:cNvPr name="AutoShape 24" id="24"/>
            <p:cNvSpPr/>
            <p:nvPr/>
          </p:nvSpPr>
          <p:spPr>
            <a:xfrm>
              <a:off x="0" y="910240"/>
              <a:ext cx="6227025" cy="0"/>
            </a:xfrm>
            <a:prstGeom prst="line">
              <a:avLst/>
            </a:prstGeom>
            <a:ln cap="rnd" w="12700">
              <a:solidFill>
                <a:srgbClr val="B6897C"/>
              </a:solidFill>
              <a:prstDash val="solid"/>
              <a:headEnd type="none" len="sm" w="sm"/>
              <a:tailEnd type="none" len="sm" w="sm"/>
            </a:ln>
          </p:spPr>
        </p:sp>
      </p:grpSp>
      <p:sp>
        <p:nvSpPr>
          <p:cNvPr name="TextBox 25" id="25"/>
          <p:cNvSpPr txBox="true"/>
          <p:nvPr/>
        </p:nvSpPr>
        <p:spPr>
          <a:xfrm rot="0">
            <a:off x="12410908" y="6077999"/>
            <a:ext cx="5580362" cy="448310"/>
          </a:xfrm>
          <a:prstGeom prst="rect">
            <a:avLst/>
          </a:prstGeom>
        </p:spPr>
        <p:txBody>
          <a:bodyPr anchor="t" rtlCol="false" tIns="0" lIns="0" bIns="0" rIns="0">
            <a:spAutoFit/>
          </a:bodyPr>
          <a:lstStyle/>
          <a:p>
            <a:pPr algn="l">
              <a:lnSpc>
                <a:spcPts val="3640"/>
              </a:lnSpc>
            </a:pPr>
            <a:r>
              <a:rPr lang="en-US" sz="2600" b="true">
                <a:solidFill>
                  <a:srgbClr val="000000"/>
                </a:solidFill>
                <a:latin typeface="Aileron Bold"/>
                <a:ea typeface="Aileron Bold"/>
                <a:cs typeface="Aileron Bold"/>
                <a:sym typeface="Aileron Bold"/>
              </a:rPr>
              <a:t> Practice mindfulnes</a:t>
            </a:r>
            <a:r>
              <a:rPr lang="en-US" sz="2600" b="true">
                <a:solidFill>
                  <a:srgbClr val="000000"/>
                </a:solidFill>
                <a:latin typeface="Aileron Bold"/>
                <a:ea typeface="Aileron Bold"/>
                <a:cs typeface="Aileron Bold"/>
                <a:sym typeface="Aileron Bold"/>
              </a:rPr>
              <a:t>s/meditation:</a:t>
            </a:r>
          </a:p>
        </p:txBody>
      </p:sp>
      <p:sp>
        <p:nvSpPr>
          <p:cNvPr name="TextBox 26" id="26"/>
          <p:cNvSpPr txBox="true"/>
          <p:nvPr/>
        </p:nvSpPr>
        <p:spPr>
          <a:xfrm rot="0">
            <a:off x="12410908" y="7072394"/>
            <a:ext cx="5580362" cy="372745"/>
          </a:xfrm>
          <a:prstGeom prst="rect">
            <a:avLst/>
          </a:prstGeom>
        </p:spPr>
        <p:txBody>
          <a:bodyPr anchor="t" rtlCol="false" tIns="0" lIns="0" bIns="0" rIns="0">
            <a:spAutoFit/>
          </a:bodyPr>
          <a:lstStyle/>
          <a:p>
            <a:pPr algn="l">
              <a:lnSpc>
                <a:spcPts val="3079"/>
              </a:lnSpc>
            </a:pPr>
            <a:r>
              <a:rPr lang="en-US" sz="2200">
                <a:solidFill>
                  <a:srgbClr val="000000"/>
                </a:solidFill>
                <a:latin typeface="Aileron"/>
                <a:ea typeface="Aileron"/>
                <a:cs typeface="Aileron"/>
                <a:sym typeface="Aileron"/>
              </a:rPr>
              <a:t>Ex</a:t>
            </a:r>
            <a:r>
              <a:rPr lang="en-US" sz="2200">
                <a:solidFill>
                  <a:srgbClr val="000000"/>
                </a:solidFill>
                <a:latin typeface="Aileron"/>
                <a:ea typeface="Aileron"/>
                <a:cs typeface="Aileron"/>
                <a:sym typeface="Aileron"/>
              </a:rPr>
              <a:t>ercise boosts mood and reduces stress.</a:t>
            </a:r>
          </a:p>
        </p:txBody>
      </p:sp>
      <p:sp>
        <p:nvSpPr>
          <p:cNvPr name="AutoShape 27" id="27"/>
          <p:cNvSpPr/>
          <p:nvPr/>
        </p:nvSpPr>
        <p:spPr>
          <a:xfrm>
            <a:off x="12408417" y="6819982"/>
            <a:ext cx="5580362" cy="0"/>
          </a:xfrm>
          <a:prstGeom prst="line">
            <a:avLst/>
          </a:prstGeom>
          <a:ln cap="rnd" w="9525">
            <a:solidFill>
              <a:srgbClr val="B6897C"/>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B6897C"/>
        </a:solidFill>
      </p:bgPr>
    </p:bg>
    <p:spTree>
      <p:nvGrpSpPr>
        <p:cNvPr id="1" name=""/>
        <p:cNvGrpSpPr/>
        <p:nvPr/>
      </p:nvGrpSpPr>
      <p:grpSpPr>
        <a:xfrm>
          <a:off x="0" y="0"/>
          <a:ext cx="0" cy="0"/>
          <a:chOff x="0" y="0"/>
          <a:chExt cx="0" cy="0"/>
        </a:xfrm>
      </p:grpSpPr>
      <p:sp>
        <p:nvSpPr>
          <p:cNvPr name="TextBox 2" id="2"/>
          <p:cNvSpPr txBox="true"/>
          <p:nvPr/>
        </p:nvSpPr>
        <p:spPr>
          <a:xfrm rot="0">
            <a:off x="2407755" y="3097238"/>
            <a:ext cx="14666128" cy="1057275"/>
          </a:xfrm>
          <a:prstGeom prst="rect">
            <a:avLst/>
          </a:prstGeom>
        </p:spPr>
        <p:txBody>
          <a:bodyPr anchor="t" rtlCol="false" tIns="0" lIns="0" bIns="0" rIns="0">
            <a:spAutoFit/>
          </a:bodyPr>
          <a:lstStyle/>
          <a:p>
            <a:pPr algn="l">
              <a:lnSpc>
                <a:spcPts val="8279"/>
              </a:lnSpc>
            </a:pPr>
            <a:r>
              <a:rPr lang="en-US" sz="6899" b="true">
                <a:solidFill>
                  <a:srgbClr val="FFFFFF"/>
                </a:solidFill>
                <a:latin typeface="Aileron Bold"/>
                <a:ea typeface="Aileron Bold"/>
                <a:cs typeface="Aileron Bold"/>
                <a:sym typeface="Aileron Bold"/>
              </a:rPr>
              <a:t>College Students &amp; Mental Health</a:t>
            </a:r>
          </a:p>
        </p:txBody>
      </p:sp>
      <p:sp>
        <p:nvSpPr>
          <p:cNvPr name="TextBox 3" id="3"/>
          <p:cNvSpPr txBox="true"/>
          <p:nvPr/>
        </p:nvSpPr>
        <p:spPr>
          <a:xfrm rot="0">
            <a:off x="2407755" y="4705956"/>
            <a:ext cx="12217544" cy="4238625"/>
          </a:xfrm>
          <a:prstGeom prst="rect">
            <a:avLst/>
          </a:prstGeom>
        </p:spPr>
        <p:txBody>
          <a:bodyPr anchor="t" rtlCol="false" tIns="0" lIns="0" bIns="0" rIns="0">
            <a:spAutoFit/>
          </a:bodyPr>
          <a:lstStyle/>
          <a:p>
            <a:pPr algn="l">
              <a:lnSpc>
                <a:spcPts val="4800"/>
              </a:lnSpc>
            </a:pPr>
            <a:r>
              <a:rPr lang="en-US" sz="3000">
                <a:solidFill>
                  <a:srgbClr val="FFFFFF"/>
                </a:solidFill>
                <a:latin typeface="Aileron"/>
                <a:ea typeface="Aileron"/>
                <a:cs typeface="Aileron"/>
                <a:sym typeface="Aileron"/>
              </a:rPr>
              <a:t>College students often struggle with mental health due to academic pressure, deadlines, financial worries, and social expectations. These stress triggers can lead to anxiety and burnout. Simple habits like planning tasks, taking breaks, staying active, and talking to trusted people help students manage stress and maintain better mental well-being.</a:t>
            </a:r>
          </a:p>
          <a:p>
            <a:pPr algn="l">
              <a:lnSpc>
                <a:spcPts val="4800"/>
              </a:lnSpc>
            </a:pPr>
          </a:p>
        </p:txBody>
      </p:sp>
      <p:sp>
        <p:nvSpPr>
          <p:cNvPr name="AutoShape 4" id="4">
            <a:extLst>
              <a:ext uri="{C183D7F6-B498-43B3-948B-1728B52AA6E4}">
                <adec:decorative xmlns:adec="http://schemas.microsoft.com/office/drawing/2017/decorative" val="1"/>
              </a:ext>
            </a:extLst>
          </p:cNvPr>
          <p:cNvSpPr/>
          <p:nvPr/>
        </p:nvSpPr>
        <p:spPr>
          <a:xfrm>
            <a:off x="2407755" y="4492651"/>
            <a:ext cx="15880245" cy="0"/>
          </a:xfrm>
          <a:prstGeom prst="line">
            <a:avLst/>
          </a:prstGeom>
          <a:ln cap="rnd" w="9525">
            <a:solidFill>
              <a:srgbClr val="EBB8A9"/>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B6897C"/>
        </a:solidFill>
      </p:bgPr>
    </p:bg>
    <p:spTree>
      <p:nvGrpSpPr>
        <p:cNvPr id="1" name=""/>
        <p:cNvGrpSpPr/>
        <p:nvPr/>
      </p:nvGrpSpPr>
      <p:grpSpPr>
        <a:xfrm>
          <a:off x="0" y="0"/>
          <a:ext cx="0" cy="0"/>
          <a:chOff x="0" y="0"/>
          <a:chExt cx="0" cy="0"/>
        </a:xfrm>
      </p:grpSpPr>
      <p:sp>
        <p:nvSpPr>
          <p:cNvPr name="TextBox 2" id="2"/>
          <p:cNvSpPr txBox="true"/>
          <p:nvPr/>
        </p:nvSpPr>
        <p:spPr>
          <a:xfrm rot="0">
            <a:off x="216390" y="342900"/>
            <a:ext cx="17855219" cy="6055508"/>
          </a:xfrm>
          <a:prstGeom prst="rect">
            <a:avLst/>
          </a:prstGeom>
        </p:spPr>
        <p:txBody>
          <a:bodyPr anchor="t" rtlCol="false" tIns="0" lIns="0" bIns="0" rIns="0">
            <a:spAutoFit/>
          </a:bodyPr>
          <a:lstStyle/>
          <a:p>
            <a:pPr algn="ctr">
              <a:lnSpc>
                <a:spcPts val="49330"/>
              </a:lnSpc>
              <a:spcBef>
                <a:spcPct val="0"/>
              </a:spcBef>
            </a:pPr>
            <a:r>
              <a:rPr lang="en-US" sz="35236">
                <a:solidFill>
                  <a:srgbClr val="EBB8A9"/>
                </a:solidFill>
                <a:latin typeface="Anton"/>
                <a:ea typeface="Anton"/>
                <a:cs typeface="Anton"/>
                <a:sym typeface="Anton"/>
              </a:rPr>
              <a:t>THANK YOU</a:t>
            </a:r>
          </a:p>
        </p:txBody>
      </p:sp>
      <p:sp>
        <p:nvSpPr>
          <p:cNvPr name="TextBox 3" id="3"/>
          <p:cNvSpPr txBox="true"/>
          <p:nvPr/>
        </p:nvSpPr>
        <p:spPr>
          <a:xfrm rot="0">
            <a:off x="5027996" y="6293633"/>
            <a:ext cx="8232008" cy="2635134"/>
          </a:xfrm>
          <a:prstGeom prst="rect">
            <a:avLst/>
          </a:prstGeom>
        </p:spPr>
        <p:txBody>
          <a:bodyPr anchor="t" rtlCol="false" tIns="0" lIns="0" bIns="0" rIns="0">
            <a:spAutoFit/>
          </a:bodyPr>
          <a:lstStyle/>
          <a:p>
            <a:pPr algn="just">
              <a:lnSpc>
                <a:spcPts val="7006"/>
              </a:lnSpc>
            </a:pPr>
            <a:r>
              <a:rPr lang="en-US" sz="5004">
                <a:solidFill>
                  <a:srgbClr val="FFFFFF"/>
                </a:solidFill>
                <a:latin typeface="Aileron"/>
                <a:ea typeface="Aileron"/>
                <a:cs typeface="Aileron"/>
                <a:sym typeface="Aileron"/>
              </a:rPr>
              <a:t>Presentated by,</a:t>
            </a:r>
          </a:p>
          <a:p>
            <a:pPr algn="r">
              <a:lnSpc>
                <a:spcPts val="7006"/>
              </a:lnSpc>
            </a:pPr>
            <a:r>
              <a:rPr lang="en-US" sz="5004">
                <a:solidFill>
                  <a:srgbClr val="000000"/>
                </a:solidFill>
                <a:latin typeface="Aileron"/>
                <a:ea typeface="Aileron"/>
                <a:cs typeface="Aileron"/>
                <a:sym typeface="Aileron"/>
              </a:rPr>
              <a:t>Anjali gadeker</a:t>
            </a:r>
          </a:p>
          <a:p>
            <a:pPr algn="r">
              <a:lnSpc>
                <a:spcPts val="7006"/>
              </a:lnSpc>
            </a:pPr>
            <a:r>
              <a:rPr lang="en-US" sz="5004">
                <a:solidFill>
                  <a:srgbClr val="000000"/>
                </a:solidFill>
                <a:latin typeface="Aileron"/>
                <a:ea typeface="Aileron"/>
                <a:cs typeface="Aileron"/>
                <a:sym typeface="Aileron"/>
              </a:rPr>
              <a:t>Harshita yadav</a:t>
            </a:r>
          </a:p>
        </p:txBody>
      </p:sp>
      <p:sp>
        <p:nvSpPr>
          <p:cNvPr name="AutoShape 4" id="4"/>
          <p:cNvSpPr/>
          <p:nvPr/>
        </p:nvSpPr>
        <p:spPr>
          <a:xfrm>
            <a:off x="216390" y="6313620"/>
            <a:ext cx="17855219" cy="84788"/>
          </a:xfrm>
          <a:prstGeom prst="line">
            <a:avLst/>
          </a:prstGeom>
          <a:ln cap="flat" w="9525">
            <a:solidFill>
              <a:srgbClr val="EBB8A9"/>
            </a:solidFill>
            <a:prstDash val="solid"/>
            <a:headEnd type="oval" len="lg" w="lg"/>
            <a:tailEnd type="oval" len="lg" w="lg"/>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DAG4ptdHvTw</dc:identifier>
  <dcterms:modified xsi:type="dcterms:W3CDTF">2011-08-01T06:04:30Z</dcterms:modified>
  <cp:revision>1</cp:revision>
  <dc:title>hello</dc:title>
</cp:coreProperties>
</file>